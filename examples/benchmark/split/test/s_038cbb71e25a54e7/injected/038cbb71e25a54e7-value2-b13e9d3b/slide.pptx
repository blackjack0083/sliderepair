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4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supply_count</c:v>
                </c:pt>
              </c:strCache>
            </c:strRef>
          </c:tx>
          <c:spPr>
            <a:solidFill>
              <a:srgbClr val="FF6699"/>
            </a:solidFill>
            <a:ln w="28575"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500.0</c:v>
                </c:pt>
                <c:pt idx="1">
                  <c:v>0.0</c:v>
                </c:pt>
                <c:pt idx="2">
                  <c:v>497.0</c:v>
                </c:pt>
                <c:pt idx="3">
                  <c:v>0.0</c:v>
                </c:pt>
                <c:pt idx="4">
                  <c:v>625.0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deal_count</c:v>
                </c:pt>
              </c:strCache>
            </c:strRef>
          </c:tx>
          <c:spPr>
            <a:solidFill>
              <a:srgbClr val="B6BFC5"/>
            </a:solidFill>
            <a:ln w="28575"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181.0</c:v>
                </c:pt>
                <c:pt idx="1">
                  <c:v>564.0</c:v>
                </c:pt>
                <c:pt idx="2">
                  <c:v>72.0</c:v>
                </c:pt>
                <c:pt idx="3">
                  <c:v>791.0</c:v>
                </c:pt>
                <c:pt idx="4">
                  <c:v>608.0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supply_area</c:v>
                </c:pt>
              </c:strCache>
            </c:strRef>
          </c:tx>
          <c:spPr>
            <a:solidFill>
              <a:srgbClr val="FF6699"/>
            </a:solidFill>
            <a:ln w="28575">
              <a:solidFill>
                <a:srgbClr val="FF6699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49551.73</c:v>
                </c:pt>
                <c:pt idx="1">
                  <c:v>0.0</c:v>
                </c:pt>
                <c:pt idx="2">
                  <c:v>39202.3</c:v>
                </c:pt>
                <c:pt idx="3">
                  <c:v>0.0</c:v>
                </c:pt>
                <c:pt idx="4">
                  <c:v>71906.88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deal_area</c:v>
                </c:pt>
              </c:strCache>
            </c:strRef>
          </c:tx>
          <c:spPr>
            <a:solidFill>
              <a:srgbClr val="B6BFC5"/>
            </a:solidFill>
            <a:ln w="28575">
              <a:solidFill>
                <a:srgbClr val="B6BFC5"/>
              </a:solidFill>
            </a:ln>
          </c:spPr>
          <c:cat>
            <c:strRef>
              <c:f>Sheet1!$A$2:$A$6</c:f>
              <c:strCache>
                <c:ptCount val="5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16147.57</c:v>
                </c:pt>
                <c:pt idx="1">
                  <c:v>58504.49</c:v>
                </c:pt>
                <c:pt idx="2">
                  <c:v>9062.34</c:v>
                </c:pt>
                <c:pt idx="3">
                  <c:v>58888.54</c:v>
                </c:pt>
                <c:pt idx="4">
                  <c:v>54950.93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200"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60000"/>
            <a:ext cx="864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0000"/>
                </a:solidFill>
                <a:latin typeface="方正兰亭黑_GBK"/>
              </a:rPr>
              <a:t>New-House Market Capacity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84000"/>
            <a:ext cx="8640000" cy="3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1E50"/>
                </a:solidFill>
                <a:latin typeface="Times New Roman"/>
              </a:rPr>
              <a:t>Listings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5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%, while transactions changed </a:t>
            </a:r>
            <a:r>
              <a:rPr sz="1100" b="1">
                <a:solidFill>
                  <a:srgbClr val="001E50"/>
                </a:solidFill>
                <a:latin typeface="Times New Roman"/>
              </a:rPr>
              <a:t>231</a:t>
            </a:r>
            <a:r>
              <a:rPr sz="1100" b="0">
                <a:solidFill>
                  <a:srgbClr val="001E50"/>
                </a:solidFill>
                <a:latin typeface="Times New Roman"/>
              </a:rPr>
              <a:t>% over the period.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6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Fengtai (Other)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Annual Supply vs. Demand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680000" y="1206000"/>
            <a:ext cx="4248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808080"/>
                </a:solidFill>
                <a:latin typeface="Times New Roman"/>
              </a:rPr>
              <a:t>Beijing Fengtai (Other)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 Supply vs. Transaction Area (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2020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-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2024</a:t>
            </a:r>
            <a:r>
              <a:rPr sz="1000" b="1">
                <a:solidFill>
                  <a:srgbClr val="808080"/>
                </a:solidFill>
                <a:latin typeface="Times New Roman"/>
              </a:rPr>
              <a:t>) (Line chart)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90000" y="1674000"/>
          <a:ext cx="3780000" cy="241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