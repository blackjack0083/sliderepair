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4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Area Rng Stats</c:v>
                </c:pt>
              </c:strCache>
            </c:strRef>
          </c:tx>
          <c:spPr>
            <a:solidFill>
              <a:srgbClr val="00B0F0"/>
            </a:solidFill>
            <a:ln w="28575">
              <a:solidFill>
                <a:srgbClr val="00B0F0"/>
              </a:solidFill>
            </a:ln>
          </c:spPr>
          <c:cat>
            <c:strRef>
              <c:f>Sheet1!$A$2:$A$17</c:f>
              <c:strCache>
                <c:ptCount val="16"/>
                <c:pt idx="0">
                  <c:v>0-20m²</c:v>
                </c:pt>
                <c:pt idx="1">
                  <c:v>20-40m²</c:v>
                </c:pt>
                <c:pt idx="2">
                  <c:v>40-60m²</c:v>
                </c:pt>
                <c:pt idx="3">
                  <c:v>60-80m²</c:v>
                </c:pt>
                <c:pt idx="4">
                  <c:v>80-100m²</c:v>
                </c:pt>
                <c:pt idx="5">
                  <c:v>100-120m²</c:v>
                </c:pt>
                <c:pt idx="6">
                  <c:v>120-140m²</c:v>
                </c:pt>
                <c:pt idx="7">
                  <c:v>140-160m²</c:v>
                </c:pt>
                <c:pt idx="8">
                  <c:v>160-180m²</c:v>
                </c:pt>
                <c:pt idx="9">
                  <c:v>180-200m²</c:v>
                </c:pt>
                <c:pt idx="10">
                  <c:v>200-220m²</c:v>
                </c:pt>
                <c:pt idx="11">
                  <c:v>220-240m²</c:v>
                </c:pt>
                <c:pt idx="12">
                  <c:v>240-260m²</c:v>
                </c:pt>
                <c:pt idx="13">
                  <c:v>260-280m²</c:v>
                </c:pt>
                <c:pt idx="14">
                  <c:v>280-300m²</c:v>
                </c:pt>
                <c:pt idx="15">
                  <c:v>≥300m²</c:v>
                </c:pt>
              </c:strCache>
            </c:strRef>
          </c:cat>
          <c:val>
            <c:numRef>
              <c:f>Sheet1!$B$2:$B$17</c:f>
              <c:numCache>
                <c:formatCode>General</c:formatCode>
                <c:ptCount val="16"/>
                <c:pt idx="0">
                  <c:v>1</c:v>
                </c:pt>
                <c:pt idx="1">
                  <c:v>20</c:v>
                </c:pt>
                <c:pt idx="2">
                  <c:v>20</c:v>
                </c:pt>
                <c:pt idx="3">
                  <c:v>20</c:v>
                </c:pt>
                <c:pt idx="4">
                  <c:v>96</c:v>
                </c:pt>
                <c:pt idx="5">
                  <c:v>45</c:v>
                </c:pt>
                <c:pt idx="6">
                  <c:v>63</c:v>
                </c:pt>
                <c:pt idx="7">
                  <c:v>31</c:v>
                </c:pt>
                <c:pt idx="8">
                  <c:v>11</c:v>
                </c:pt>
                <c:pt idx="9">
                  <c:v>1</c:v>
                </c:pt>
                <c:pt idx="10">
                  <c:v>0</c:v>
                </c:pt>
                <c:pt idx="11">
                  <c:v>3</c:v>
                </c:pt>
                <c:pt idx="12">
                  <c:v>1</c:v>
                </c:pt>
                <c:pt idx="13">
                  <c:v>1</c:v>
                </c:pt>
                <c:pt idx="14">
                  <c:v>0</c:v>
                </c:pt>
                <c:pt idx="15">
                  <c:v>8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200"/>
          </a:pPr>
        </a:p>
      </c:txPr>
    </c:legend>
    <c:plotVisOnly val="1"/>
    <c:dispBlanksAs val="gap"/>
    <c:showDLblsOverMax val="0"/>
  </c:chart>
  <c:txPr>
    <a:bodyPr/>
    <a:lstStyle/>
    <a:p>
      <a:pPr>
        <a:defRPr sz="1200">
          <a:latin typeface="Arial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Price Rng Stats</c:v>
                </c:pt>
              </c:strCache>
            </c:strRef>
          </c:tx>
          <c:spPr>
            <a:solidFill>
              <a:srgbClr val="00B0F0"/>
            </a:solidFill>
            <a:ln w="28575">
              <a:solidFill>
                <a:srgbClr val="00B0F0"/>
              </a:solidFill>
            </a:ln>
          </c:spPr>
          <c:cat>
            <c:strRef>
              <c:f>Sheet1!$A$2:$A$14</c:f>
              <c:strCache>
                <c:ptCount val="13"/>
                <c:pt idx="0">
                  <c:v>0.0-1.0M</c:v>
                </c:pt>
                <c:pt idx="1">
                  <c:v>1.0-2.0M</c:v>
                </c:pt>
                <c:pt idx="2">
                  <c:v>2.0-3.0M</c:v>
                </c:pt>
                <c:pt idx="3">
                  <c:v>3.0-4.0M</c:v>
                </c:pt>
                <c:pt idx="4">
                  <c:v>4.0-5.0M</c:v>
                </c:pt>
                <c:pt idx="5">
                  <c:v>5.0-6.0M</c:v>
                </c:pt>
                <c:pt idx="6">
                  <c:v>6.0-7.0M</c:v>
                </c:pt>
                <c:pt idx="7">
                  <c:v>7.0-8.0M</c:v>
                </c:pt>
                <c:pt idx="8">
                  <c:v>8.0-9.0M</c:v>
                </c:pt>
                <c:pt idx="9">
                  <c:v>9.0-10.0M</c:v>
                </c:pt>
                <c:pt idx="10">
                  <c:v>10.0-11.0M</c:v>
                </c:pt>
                <c:pt idx="11">
                  <c:v>11.0-12.0M</c:v>
                </c:pt>
                <c:pt idx="12">
                  <c:v>12.0-13.0M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54</c:v>
                </c:pt>
                <c:pt idx="1">
                  <c:v>131</c:v>
                </c:pt>
                <c:pt idx="2">
                  <c:v>112</c:v>
                </c:pt>
                <c:pt idx="3">
                  <c:v>14</c:v>
                </c:pt>
                <c:pt idx="4">
                  <c:v>6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1</c:v>
                </c:pt>
                <c:pt idx="10">
                  <c:v>2</c:v>
                </c:pt>
                <c:pt idx="11">
                  <c:v>0</c:v>
                </c:pt>
                <c:pt idx="12">
                  <c:v>1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200"/>
          </a:pPr>
        </a:p>
      </c:txPr>
    </c:legend>
    <c:plotVisOnly val="1"/>
    <c:dispBlanksAs val="gap"/>
    <c:showDLblsOverMax val="0"/>
  </c:chart>
  <c:txPr>
    <a:bodyPr/>
    <a:lstStyle/>
    <a:p>
      <a:pPr>
        <a:defRPr sz="1200">
          <a:latin typeface="Arial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0000" y="360000"/>
            <a:ext cx="864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0000"/>
                </a:solidFill>
                <a:latin typeface="方正兰亭黑_GBK"/>
              </a:rPr>
              <a:t>Resale-House Cross-Structure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0000" y="684000"/>
            <a:ext cx="8640000" cy="37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1E50"/>
                </a:solidFill>
                <a:latin typeface="Times New Roman"/>
              </a:rPr>
              <a:t>Accounting for </a:t>
            </a:r>
            <a:r>
              <a:rPr sz="1100" b="1">
                <a:solidFill>
                  <a:srgbClr val="001E50"/>
                </a:solidFill>
                <a:latin typeface="Times New Roman"/>
              </a:rPr>
              <a:t>96</a:t>
            </a:r>
            <a:r>
              <a:rPr sz="1100" b="0">
                <a:solidFill>
                  <a:srgbClr val="001E50"/>
                </a:solidFill>
                <a:latin typeface="Times New Roman"/>
              </a:rPr>
              <a:t> units, the </a:t>
            </a:r>
            <a:r>
              <a:rPr sz="1100" b="1">
                <a:solidFill>
                  <a:srgbClr val="001E50"/>
                </a:solidFill>
                <a:latin typeface="Times New Roman"/>
              </a:rPr>
              <a:t>40-100m²</a:t>
            </a:r>
            <a:r>
              <a:rPr sz="1100" b="0">
                <a:solidFill>
                  <a:srgbClr val="001E50"/>
                </a:solidFill>
                <a:latin typeface="Times New Roman"/>
              </a:rPr>
              <a:t> category stands out as the primary resale typology.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6000" y="1206000"/>
            <a:ext cx="4248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808080"/>
                </a:solidFill>
                <a:latin typeface="Times New Roman"/>
              </a:rPr>
              <a:t>2020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-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2024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 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Guangzhou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 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Nansha Bay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 Resale House Total Area Segment Distribution Statistics (Line chart)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80000" y="1206000"/>
            <a:ext cx="4248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808080"/>
                </a:solidFill>
                <a:latin typeface="Times New Roman"/>
              </a:rPr>
              <a:t>2020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-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2024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 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Guangzhou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 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Nansha Bay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 Resale House Total Price Segment Distribution Statistics (Pie chart)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270000" y="1674000"/>
          <a:ext cx="3780000" cy="241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4590000" y="1674000"/>
          <a:ext cx="3780000" cy="24120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