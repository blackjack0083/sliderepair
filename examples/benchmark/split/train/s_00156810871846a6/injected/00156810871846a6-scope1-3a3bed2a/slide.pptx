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Area Rng Stats</c:v>
                </c:pt>
              </c:strCache>
            </c:strRef>
          </c:tx>
          <c:spPr>
            <a:solidFill>
              <a:srgbClr val="00B0F0"/>
            </a:solidFill>
            <a:ln w="28575">
              <a:solidFill>
                <a:srgbClr val="00B0F0"/>
              </a:solidFill>
            </a:ln>
          </c:spPr>
          <c:cat>
            <c:strRef>
              <c:f>Sheet1!$A$2:$A$17</c:f>
              <c:strCache>
                <c:ptCount val="16"/>
                <c:pt idx="0">
                  <c:v>60-80m²</c:v>
                </c:pt>
                <c:pt idx="1">
                  <c:v>80-100m²</c:v>
                </c:pt>
                <c:pt idx="2">
                  <c:v>100-120m²</c:v>
                </c:pt>
                <c:pt idx="3">
                  <c:v>120-140m²</c:v>
                </c:pt>
                <c:pt idx="4">
                  <c:v>140-160m²</c:v>
                </c:pt>
                <c:pt idx="5">
                  <c:v>160-180m²</c:v>
                </c:pt>
                <c:pt idx="6">
                  <c:v>180-200m²</c:v>
                </c:pt>
                <c:pt idx="7">
                  <c:v>200-220m²</c:v>
                </c:pt>
                <c:pt idx="8">
                  <c:v>220-240m²</c:v>
                </c:pt>
                <c:pt idx="9">
                  <c:v>240-260m²</c:v>
                </c:pt>
                <c:pt idx="10">
                  <c:v>260-280m²</c:v>
                </c:pt>
                <c:pt idx="11">
                  <c:v>280-300m²</c:v>
                </c:pt>
                <c:pt idx="12">
                  <c:v>300-320m²</c:v>
                </c:pt>
                <c:pt idx="13">
                  <c:v>320-340m²</c:v>
                </c:pt>
                <c:pt idx="14">
                  <c:v>340-360m²</c:v>
                </c:pt>
                <c:pt idx="15">
                  <c:v>≥360m²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7</c:v>
                </c:pt>
                <c:pt idx="1">
                  <c:v>1209</c:v>
                </c:pt>
                <c:pt idx="2">
                  <c:v>150</c:v>
                </c:pt>
                <c:pt idx="3">
                  <c:v>89</c:v>
                </c:pt>
                <c:pt idx="4">
                  <c:v>22</c:v>
                </c:pt>
                <c:pt idx="5">
                  <c:v>0</c:v>
                </c:pt>
                <c:pt idx="6">
                  <c:v>3</c:v>
                </c:pt>
                <c:pt idx="7">
                  <c:v>3</c:v>
                </c:pt>
                <c:pt idx="8">
                  <c:v>0</c:v>
                </c:pt>
                <c:pt idx="9">
                  <c:v>12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Rng Stats</c:v>
                </c:pt>
              </c:strCache>
            </c:strRef>
          </c:tx>
          <c:spPr>
            <a:solidFill>
              <a:srgbClr val="00B0F0"/>
            </a:solidFill>
            <a:ln w="28575">
              <a:solidFill>
                <a:srgbClr val="00B0F0"/>
              </a:solidFill>
            </a:ln>
          </c:spPr>
          <c:cat>
            <c:strRef>
              <c:f>Sheet1!$A$2:$A$17</c:f>
              <c:strCache>
                <c:ptCount val="16"/>
                <c:pt idx="0">
                  <c:v>0.0-1.0M</c:v>
                </c:pt>
                <c:pt idx="1">
                  <c:v>1.0-2.0M</c:v>
                </c:pt>
                <c:pt idx="2">
                  <c:v>2.0-3.0M</c:v>
                </c:pt>
                <c:pt idx="3">
                  <c:v>3.0-4.0M</c:v>
                </c:pt>
                <c:pt idx="4">
                  <c:v>4.0-5.0M</c:v>
                </c:pt>
                <c:pt idx="5">
                  <c:v>5.0-6.0M</c:v>
                </c:pt>
                <c:pt idx="6">
                  <c:v>6.0-7.0M</c:v>
                </c:pt>
                <c:pt idx="7">
                  <c:v>7.0-8.0M</c:v>
                </c:pt>
                <c:pt idx="8">
                  <c:v>8.0-9.0M</c:v>
                </c:pt>
                <c:pt idx="9">
                  <c:v>9.0-10.0M</c:v>
                </c:pt>
                <c:pt idx="10">
                  <c:v>10.0-11.0M</c:v>
                </c:pt>
                <c:pt idx="11">
                  <c:v>11.0-12.0M</c:v>
                </c:pt>
                <c:pt idx="12">
                  <c:v>12.0-13.0M</c:v>
                </c:pt>
                <c:pt idx="13">
                  <c:v>13.0-14.0M</c:v>
                </c:pt>
                <c:pt idx="14">
                  <c:v>14.0-15.0M</c:v>
                </c:pt>
                <c:pt idx="15">
                  <c:v>≥15M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0</c:v>
                </c:pt>
                <c:pt idx="1">
                  <c:v>0</c:v>
                </c:pt>
                <c:pt idx="2">
                  <c:v>305</c:v>
                </c:pt>
                <c:pt idx="3">
                  <c:v>907</c:v>
                </c:pt>
                <c:pt idx="4">
                  <c:v>191</c:v>
                </c:pt>
                <c:pt idx="5">
                  <c:v>31</c:v>
                </c:pt>
                <c:pt idx="6">
                  <c:v>7</c:v>
                </c:pt>
                <c:pt idx="7">
                  <c:v>19</c:v>
                </c:pt>
                <c:pt idx="8">
                  <c:v>16</c:v>
                </c:pt>
                <c:pt idx="9">
                  <c:v>1</c:v>
                </c:pt>
                <c:pt idx="10">
                  <c:v>0</c:v>
                </c:pt>
                <c:pt idx="11">
                  <c:v>2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86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New-House Cross-Structure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84000"/>
            <a:ext cx="8640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The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80-100m²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typology emerged as the mainstream segment, amassing a total of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1209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6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Beijing Kuichong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Area Segment Distribution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(Line chart)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Shenzhen Kuichong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Price Segment Distribution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(Line chart)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9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