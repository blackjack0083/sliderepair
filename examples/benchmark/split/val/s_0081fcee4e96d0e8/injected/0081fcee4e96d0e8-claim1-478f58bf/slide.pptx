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4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0000" y="360000"/>
            <a:ext cx="864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方正兰亭黑_GBK"/>
              </a:rPr>
              <a:t>Resale-House Capacity &amp;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" y="684000"/>
            <a:ext cx="8640000" cy="52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1E50"/>
                </a:solidFill>
                <a:latin typeface="Times New Roman"/>
              </a:rPr>
              <a:t>Across the period, resale transaction volume moved from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528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 units to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193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 units, a net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decrease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 of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335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 units.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72000" y="1314000"/>
            <a:ext cx="54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08080"/>
                </a:solidFill>
                <a:latin typeface="Times New Roman"/>
              </a:rPr>
              <a:t>Shenzhen Songgang Intelligent Manufacturing Eco-City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 Resale Market Summary (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2020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-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2024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) (Pie chart)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02400" y="1638000"/>
          <a:ext cx="8549995" cy="31319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3295"/>
                <a:gridCol w="1131340"/>
                <a:gridCol w="1131340"/>
                <a:gridCol w="1131340"/>
                <a:gridCol w="1131340"/>
                <a:gridCol w="1131340"/>
              </a:tblGrid>
              <a:tr h="867903"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ea typeface="方正兰亭黑_GBK"/>
                          <a:latin typeface="方正兰亭黑_GBK"/>
                        </a:rPr>
                        <a:t>metric</a:t>
                      </a:r>
                    </a:p>
                  </a:txBody>
                  <a:tcPr marL="18000" marR="18000" marT="18000" marB="18000">
                    <a:solidFill>
                      <a:srgbClr val="001E5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ea typeface="方正兰亭黑_GBK"/>
                          <a:latin typeface="方正兰亭黑_GBK"/>
                        </a:rPr>
                        <a:t>2020</a:t>
                      </a:r>
                    </a:p>
                  </a:txBody>
                  <a:tcPr marL="18000" marR="18000" marT="18000" marB="18000">
                    <a:solidFill>
                      <a:srgbClr val="001E5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ea typeface="方正兰亭黑_GBK"/>
                          <a:latin typeface="方正兰亭黑_GBK"/>
                        </a:rPr>
                        <a:t>2021</a:t>
                      </a:r>
                    </a:p>
                  </a:txBody>
                  <a:tcPr marL="18000" marR="18000" marT="18000" marB="18000">
                    <a:solidFill>
                      <a:srgbClr val="001E5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ea typeface="方正兰亭黑_GBK"/>
                          <a:latin typeface="方正兰亭黑_GBK"/>
                        </a:rPr>
                        <a:t>2022</a:t>
                      </a:r>
                    </a:p>
                  </a:txBody>
                  <a:tcPr marL="18000" marR="18000" marT="18000" marB="18000">
                    <a:solidFill>
                      <a:srgbClr val="001E5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ea typeface="方正兰亭黑_GBK"/>
                          <a:latin typeface="方正兰亭黑_GBK"/>
                        </a:rPr>
                        <a:t>2023</a:t>
                      </a:r>
                    </a:p>
                  </a:txBody>
                  <a:tcPr marL="18000" marR="18000" marT="18000" marB="18000">
                    <a:solidFill>
                      <a:srgbClr val="001E5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ea typeface="方正兰亭黑_GBK"/>
                          <a:latin typeface="方正兰亭黑_GBK"/>
                        </a:rPr>
                        <a:t>2024</a:t>
                      </a:r>
                    </a:p>
                  </a:txBody>
                  <a:tcPr marL="18000" marR="18000" marT="18000" marB="18000">
                    <a:solidFill>
                      <a:srgbClr val="001E50"/>
                    </a:solidFill>
                  </a:tcPr>
                </a:tc>
              </a:tr>
              <a:tr h="754698"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trade_counts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528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174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45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103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193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</a:tr>
              <a:tr h="754698"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avg_unit_price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47085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48947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45414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42529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35410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</a:tr>
              <a:tr h="754698"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dim_area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42866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12761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4168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9660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18050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