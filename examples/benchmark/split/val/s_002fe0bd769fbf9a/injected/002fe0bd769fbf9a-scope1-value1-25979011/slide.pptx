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144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0000" y="360000"/>
            <a:ext cx="864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00000"/>
                </a:solidFill>
                <a:latin typeface="方正兰亭黑_GBK"/>
              </a:rPr>
              <a:t>Area Segment Annual Trend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0000" y="684000"/>
            <a:ext cx="8640000" cy="52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1E50"/>
                </a:solidFill>
                <a:latin typeface="Times New Roman"/>
              </a:rPr>
              <a:t>Across </a:t>
            </a:r>
            <a:r>
              <a:rPr sz="1100" b="1">
                <a:solidFill>
                  <a:srgbClr val="001E50"/>
                </a:solidFill>
                <a:latin typeface="Times New Roman"/>
              </a:rPr>
              <a:t>2025</a:t>
            </a:r>
            <a:r>
              <a:rPr sz="1100" b="0">
                <a:solidFill>
                  <a:srgbClr val="001E50"/>
                </a:solidFill>
                <a:latin typeface="Times New Roman"/>
              </a:rPr>
              <a:t>-</a:t>
            </a:r>
            <a:r>
              <a:rPr sz="1100" b="1">
                <a:solidFill>
                  <a:srgbClr val="001E50"/>
                </a:solidFill>
                <a:latin typeface="Times New Roman"/>
              </a:rPr>
              <a:t>2024</a:t>
            </a:r>
            <a:r>
              <a:rPr sz="1100" b="0">
                <a:solidFill>
                  <a:srgbClr val="001E50"/>
                </a:solidFill>
                <a:latin typeface="Times New Roman"/>
              </a:rPr>
              <a:t>, </a:t>
            </a:r>
            <a:r>
              <a:rPr sz="1100" b="1">
                <a:solidFill>
                  <a:srgbClr val="001E50"/>
                </a:solidFill>
                <a:latin typeface="Times New Roman"/>
              </a:rPr>
              <a:t>100-120m²</a:t>
            </a:r>
            <a:r>
              <a:rPr sz="1100" b="0">
                <a:solidFill>
                  <a:srgbClr val="001E50"/>
                </a:solidFill>
                <a:latin typeface="Times New Roman"/>
              </a:rPr>
              <a:t> remained the leading area segment in </a:t>
            </a:r>
            <a:r>
              <a:rPr sz="1100" b="1">
                <a:solidFill>
                  <a:srgbClr val="001E50"/>
                </a:solidFill>
                <a:latin typeface="Times New Roman"/>
              </a:rPr>
              <a:t>Xiuhua Street</a:t>
            </a:r>
            <a:r>
              <a:rPr sz="1100" b="0">
                <a:solidFill>
                  <a:srgbClr val="001E50"/>
                </a:solidFill>
                <a:latin typeface="Times New Roman"/>
              </a:rPr>
              <a:t>, contributing </a:t>
            </a:r>
            <a:r>
              <a:rPr sz="1100" b="1">
                <a:solidFill>
                  <a:srgbClr val="001E50"/>
                </a:solidFill>
                <a:latin typeface="Times New Roman"/>
              </a:rPr>
              <a:t>55</a:t>
            </a:r>
            <a:r>
              <a:rPr sz="1100" b="0">
                <a:solidFill>
                  <a:srgbClr val="001E50"/>
                </a:solidFill>
                <a:latin typeface="Times New Roman"/>
              </a:rPr>
              <a:t>% of the total </a:t>
            </a:r>
            <a:r>
              <a:rPr sz="1100" b="1">
                <a:solidFill>
                  <a:srgbClr val="001E50"/>
                </a:solidFill>
                <a:latin typeface="Times New Roman"/>
              </a:rPr>
              <a:t>3,837</a:t>
            </a:r>
            <a:r>
              <a:rPr sz="1100" b="0">
                <a:solidFill>
                  <a:srgbClr val="001E50"/>
                </a:solidFill>
                <a:latin typeface="Times New Roman"/>
              </a:rPr>
              <a:t> units while annual transaction volume </a:t>
            </a:r>
            <a:r>
              <a:rPr sz="1100" b="1">
                <a:solidFill>
                  <a:srgbClr val="001E50"/>
                </a:solidFill>
                <a:latin typeface="Times New Roman"/>
              </a:rPr>
              <a:t>decreased</a:t>
            </a:r>
            <a:r>
              <a:rPr sz="1100" b="0">
                <a:solidFill>
                  <a:srgbClr val="001E50"/>
                </a:solidFill>
                <a:latin typeface="Times New Roman"/>
              </a:rPr>
              <a:t> from </a:t>
            </a:r>
            <a:r>
              <a:rPr sz="1100" b="1">
                <a:solidFill>
                  <a:srgbClr val="001E50"/>
                </a:solidFill>
                <a:latin typeface="Times New Roman"/>
              </a:rPr>
              <a:t>1,013</a:t>
            </a:r>
            <a:r>
              <a:rPr sz="1100" b="0">
                <a:solidFill>
                  <a:srgbClr val="001E50"/>
                </a:solidFill>
                <a:latin typeface="Times New Roman"/>
              </a:rPr>
              <a:t> to </a:t>
            </a:r>
            <a:r>
              <a:rPr sz="1100" b="1">
                <a:solidFill>
                  <a:srgbClr val="001E50"/>
                </a:solidFill>
                <a:latin typeface="Times New Roman"/>
              </a:rPr>
              <a:t>635</a:t>
            </a:r>
            <a:r>
              <a:rPr sz="1100" b="0">
                <a:solidFill>
                  <a:srgbClr val="001E50"/>
                </a:solidFill>
                <a:latin typeface="Times New Roman"/>
              </a:rPr>
              <a:t> units.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72000" y="1314000"/>
            <a:ext cx="540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808080"/>
                </a:solidFill>
                <a:latin typeface="Times New Roman"/>
              </a:rPr>
              <a:t>Guangzhou Xiuhua Street</a:t>
            </a:r>
            <a:r>
              <a:rPr sz="1000" b="1">
                <a:solidFill>
                  <a:srgbClr val="808080"/>
                </a:solidFill>
                <a:latin typeface="Times New Roman"/>
              </a:rPr>
              <a:t> Area Segment Annual Mix (</a:t>
            </a:r>
            <a:r>
              <a:rPr sz="1000" b="1">
                <a:solidFill>
                  <a:srgbClr val="808080"/>
                </a:solidFill>
                <a:latin typeface="Times New Roman"/>
              </a:rPr>
              <a:t>2025</a:t>
            </a:r>
            <a:r>
              <a:rPr sz="1000" b="1">
                <a:solidFill>
                  <a:srgbClr val="808080"/>
                </a:solidFill>
                <a:latin typeface="Times New Roman"/>
              </a:rPr>
              <a:t>-</a:t>
            </a:r>
            <a:r>
              <a:rPr sz="1000" b="1">
                <a:solidFill>
                  <a:srgbClr val="808080"/>
                </a:solidFill>
                <a:latin typeface="Times New Roman"/>
              </a:rPr>
              <a:t>2024</a:t>
            </a:r>
            <a:r>
              <a:rPr sz="1000" b="1">
                <a:solidFill>
                  <a:srgbClr val="808080"/>
                </a:solidFill>
                <a:latin typeface="Times New Roman"/>
              </a:rPr>
              <a:t>) (Table)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02400" y="1638000"/>
          <a:ext cx="8549995" cy="31319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7760"/>
                <a:gridCol w="801182"/>
                <a:gridCol w="801182"/>
                <a:gridCol w="801182"/>
                <a:gridCol w="801182"/>
                <a:gridCol w="801182"/>
                <a:gridCol w="779265"/>
                <a:gridCol w="779265"/>
                <a:gridCol w="779265"/>
                <a:gridCol w="779265"/>
                <a:gridCol w="779265"/>
              </a:tblGrid>
              <a:tr h="210017">
                <a:tc>
                  <a:txBody>
                    <a:bodyPr wrap="square"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  <a:ea typeface="方正兰亭黑_GBK"/>
                          <a:latin typeface="方正兰亭黑_GBK"/>
                        </a:rPr>
                        <a:t>area_range</a:t>
                      </a:r>
                    </a:p>
                  </a:txBody>
                  <a:tcPr marL="18000" marR="18000" marT="18000" marB="18000">
                    <a:solidFill>
                      <a:srgbClr val="001E5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  <a:ea typeface="方正兰亭黑_GBK"/>
                          <a:latin typeface="方正兰亭黑_GBK"/>
                        </a:rPr>
                        <a:t>supply_counts(2020)</a:t>
                      </a:r>
                    </a:p>
                  </a:txBody>
                  <a:tcPr marL="18000" marR="18000" marT="18000" marB="18000">
                    <a:solidFill>
                      <a:srgbClr val="001E5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  <a:ea typeface="方正兰亭黑_GBK"/>
                          <a:latin typeface="方正兰亭黑_GBK"/>
                        </a:rPr>
                        <a:t>supply_counts(2021)</a:t>
                      </a:r>
                    </a:p>
                  </a:txBody>
                  <a:tcPr marL="18000" marR="18000" marT="18000" marB="18000">
                    <a:solidFill>
                      <a:srgbClr val="001E5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  <a:ea typeface="方正兰亭黑_GBK"/>
                          <a:latin typeface="方正兰亭黑_GBK"/>
                        </a:rPr>
                        <a:t>supply_counts(2022)</a:t>
                      </a:r>
                    </a:p>
                  </a:txBody>
                  <a:tcPr marL="18000" marR="18000" marT="18000" marB="18000">
                    <a:solidFill>
                      <a:srgbClr val="001E5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  <a:ea typeface="方正兰亭黑_GBK"/>
                          <a:latin typeface="方正兰亭黑_GBK"/>
                        </a:rPr>
                        <a:t>supply_counts(2023)</a:t>
                      </a:r>
                    </a:p>
                  </a:txBody>
                  <a:tcPr marL="18000" marR="18000" marT="18000" marB="18000">
                    <a:solidFill>
                      <a:srgbClr val="001E5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  <a:ea typeface="方正兰亭黑_GBK"/>
                          <a:latin typeface="方正兰亭黑_GBK"/>
                        </a:rPr>
                        <a:t>supply_counts(2024)</a:t>
                      </a:r>
                    </a:p>
                  </a:txBody>
                  <a:tcPr marL="18000" marR="18000" marT="18000" marB="18000">
                    <a:solidFill>
                      <a:srgbClr val="001E5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  <a:ea typeface="方正兰亭黑_GBK"/>
                          <a:latin typeface="方正兰亭黑_GBK"/>
                        </a:rPr>
                        <a:t>trade_counts(2020)</a:t>
                      </a:r>
                    </a:p>
                  </a:txBody>
                  <a:tcPr marL="18000" marR="18000" marT="18000" marB="18000">
                    <a:solidFill>
                      <a:srgbClr val="001E5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  <a:ea typeface="方正兰亭黑_GBK"/>
                          <a:latin typeface="方正兰亭黑_GBK"/>
                        </a:rPr>
                        <a:t>trade_counts(2021)</a:t>
                      </a:r>
                    </a:p>
                  </a:txBody>
                  <a:tcPr marL="18000" marR="18000" marT="18000" marB="18000">
                    <a:solidFill>
                      <a:srgbClr val="001E5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  <a:ea typeface="方正兰亭黑_GBK"/>
                          <a:latin typeface="方正兰亭黑_GBK"/>
                        </a:rPr>
                        <a:t>trade_counts(2022)</a:t>
                      </a:r>
                    </a:p>
                  </a:txBody>
                  <a:tcPr marL="18000" marR="18000" marT="18000" marB="18000">
                    <a:solidFill>
                      <a:srgbClr val="001E5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  <a:ea typeface="方正兰亭黑_GBK"/>
                          <a:latin typeface="方正兰亭黑_GBK"/>
                        </a:rPr>
                        <a:t>trade_counts(2023)</a:t>
                      </a:r>
                    </a:p>
                  </a:txBody>
                  <a:tcPr marL="18000" marR="18000" marT="18000" marB="18000">
                    <a:solidFill>
                      <a:srgbClr val="001E5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  <a:ea typeface="方正兰亭黑_GBK"/>
                          <a:latin typeface="方正兰亭黑_GBK"/>
                        </a:rPr>
                        <a:t>trade_counts(2024)</a:t>
                      </a:r>
                    </a:p>
                  </a:txBody>
                  <a:tcPr marL="18000" marR="18000" marT="18000" marB="18000">
                    <a:solidFill>
                      <a:srgbClr val="001E50"/>
                    </a:solidFill>
                  </a:tcPr>
                </a:tc>
              </a:tr>
              <a:tr h="182623"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0-20m²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4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</a:tr>
              <a:tr h="182623"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20-40m²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3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3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</a:tr>
              <a:tr h="182623"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40-60m²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23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1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1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1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28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49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42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23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11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</a:tr>
              <a:tr h="182623"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60-80m²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4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62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6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9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1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8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3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</a:tr>
              <a:tr h="182623"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80-100m²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386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806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123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123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158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408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48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148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243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</a:tr>
              <a:tr h="182623"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100-120m²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583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356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217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40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117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745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686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183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254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259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</a:tr>
              <a:tr h="182623"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120-140m²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150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120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80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7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14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91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124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23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94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93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</a:tr>
              <a:tr h="182623"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140-160m²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15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27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13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1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21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9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16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</a:tr>
              <a:tr h="182623"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160-180m²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</a:tr>
              <a:tr h="182623"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180-200m²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2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7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5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</a:tr>
              <a:tr h="182623"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200-220m²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2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</a:tr>
              <a:tr h="182623"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220-240m²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1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4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2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</a:tr>
              <a:tr h="182623"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240-260m²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</a:tr>
              <a:tr h="182623"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260-280m²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</a:tr>
              <a:tr h="182623"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280-300m²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</a:tr>
              <a:tr h="182623"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≥300m²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16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1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33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2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5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3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